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103120"/>
            <a:ext cx="5303520" cy="530352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PRICING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Listings, Pricing, Customer Sentiment &amp; Host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Pandas  |  NumPy  |  Power BI  |  Power Query  |  DAX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3832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 that transforms Airbnb listing and review data into actionable insights on pricing, neighbourhood performance, customer sentiment and host behaviour.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572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4937760"/>
            <a:ext cx="1691640" cy="594360"/>
          </a:xfrm>
          <a:prstGeom prst="roundRect">
            <a:avLst>
              <a:gd name="adj" fmla="val 9231"/>
            </a:avLst>
          </a:prstGeom>
          <a:solidFill>
            <a:srgbClr val="2430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9377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4937760"/>
            <a:ext cx="128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05456" y="4937760"/>
            <a:ext cx="1691640" cy="594360"/>
          </a:xfrm>
          <a:prstGeom prst="roundRect">
            <a:avLst>
              <a:gd name="adj" fmla="val 9231"/>
            </a:avLst>
          </a:prstGeom>
          <a:solidFill>
            <a:srgbClr val="24305E"/>
          </a:solidFill>
          <a:ln/>
        </p:spPr>
      </p:sp>
      <p:sp>
        <p:nvSpPr>
          <p:cNvPr id="16" name="Text 14"/>
          <p:cNvSpPr/>
          <p:nvPr/>
        </p:nvSpPr>
        <p:spPr>
          <a:xfrm>
            <a:off x="2505456" y="49377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97096" y="4937760"/>
            <a:ext cx="128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5112" y="4937760"/>
            <a:ext cx="1691640" cy="594360"/>
          </a:xfrm>
          <a:prstGeom prst="roundRect">
            <a:avLst>
              <a:gd name="adj" fmla="val 9231"/>
            </a:avLst>
          </a:prstGeom>
          <a:solidFill>
            <a:srgbClr val="24305E"/>
          </a:solidFill>
          <a:ln/>
        </p:spPr>
      </p:sp>
      <p:sp>
        <p:nvSpPr>
          <p:cNvPr id="19" name="Text 17"/>
          <p:cNvSpPr/>
          <p:nvPr/>
        </p:nvSpPr>
        <p:spPr>
          <a:xfrm>
            <a:off x="4325112" y="49377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16752" y="4937760"/>
            <a:ext cx="128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937760"/>
            <a:ext cx="1691640" cy="594360"/>
          </a:xfrm>
          <a:prstGeom prst="roundRect">
            <a:avLst>
              <a:gd name="adj" fmla="val 9231"/>
            </a:avLst>
          </a:prstGeom>
          <a:solidFill>
            <a:srgbClr val="24305E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49377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36408" y="4937760"/>
            <a:ext cx="128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64424" y="4937760"/>
            <a:ext cx="1691640" cy="594360"/>
          </a:xfrm>
          <a:prstGeom prst="roundRect">
            <a:avLst>
              <a:gd name="adj" fmla="val 9231"/>
            </a:avLst>
          </a:prstGeom>
          <a:solidFill>
            <a:srgbClr val="24305E"/>
          </a:solidFill>
          <a:ln/>
        </p:spPr>
      </p:sp>
      <p:sp>
        <p:nvSpPr>
          <p:cNvPr id="25" name="Text 23"/>
          <p:cNvSpPr/>
          <p:nvPr/>
        </p:nvSpPr>
        <p:spPr>
          <a:xfrm>
            <a:off x="7964424" y="49377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56064" y="4937760"/>
            <a:ext cx="128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84080" y="4937760"/>
            <a:ext cx="1691640" cy="594360"/>
          </a:xfrm>
          <a:prstGeom prst="roundRect">
            <a:avLst>
              <a:gd name="adj" fmla="val 9231"/>
            </a:avLst>
          </a:prstGeom>
          <a:solidFill>
            <a:srgbClr val="FF5A5F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49377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matters, and what it set out to answer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hosts and marketplace stakeholders need reliable data-driven insights to understand pricing patterns, neighbourhood differences, room-type performance, customer sentiment and host performance.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transform raw Airbnb listing and review data into a structured analytical solution that supports better pricing and marketplace decisions.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9136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2245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neighbourhoods command higher prices?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5171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room type affect pricing?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8097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factors are associated with listing prices?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5102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 Superhosts show stronger customer engagement?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5394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does customer sentiment reveal?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6875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concentrated is the host market?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883664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883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73736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listing and pricing patterns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42316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569464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569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42316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neighbourhood and room-type performance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10896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255264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255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10896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review sentiment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79476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941064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941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379476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Superhost and non-Superhost performance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48056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626864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626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448056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host portfolio concentration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516636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5312664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5312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516636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decision-support dashboard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63640" y="585216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5998464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5998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03720" y="585216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recommendations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 Preparation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datasets, cleaned into one analytical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385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Listing 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1808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Host information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Neighbourhood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66547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Room type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9077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Property type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1501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39242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Guest capacity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6347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Availability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Minimum nights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41193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metrics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3616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Host attributes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1463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17830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9385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Listing 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21808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3484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Reviewer information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34840" y="266547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comments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34840" y="29077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Sentiment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31501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Sentiment score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09560" y="1463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09560" y="178308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17830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Airbnb 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09560" y="2084832"/>
            <a:ext cx="3749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↓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09560" y="213055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21305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09560" y="2432304"/>
            <a:ext cx="3749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09560" y="24780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909560" y="24780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09560" y="2779776"/>
            <a:ext cx="3749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↓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909560" y="28254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28254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09560" y="3127248"/>
            <a:ext cx="3749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↓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09560" y="317296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909560" y="31729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Cleaning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09560" y="3474720"/>
            <a:ext cx="3749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↓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09560" y="352044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909560" y="35204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Identification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909560" y="3822192"/>
            <a:ext cx="3749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909560" y="386791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7909560" y="38679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Sentiment Processing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09560" y="4169664"/>
            <a:ext cx="3749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↓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09560" y="421538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5A5F"/>
          </a:solidFill>
          <a:ln/>
        </p:spPr>
      </p:sp>
      <p:sp>
        <p:nvSpPr>
          <p:cNvPr id="48" name="Text 46"/>
          <p:cNvSpPr/>
          <p:nvPr/>
        </p:nvSpPr>
        <p:spPr>
          <a:xfrm>
            <a:off x="7909560" y="42153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Analytical Dataset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470916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47091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focused on improving consistency, analytical reliability and downstream dashboard performance.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02920" y="5623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5897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Matplotlib  •  Seaborn  •  Power Query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 &amp; Data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validated business 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7373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41401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41401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41401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09067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090672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76732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76732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7673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44398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44398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4439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73736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7373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173736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41401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41401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241401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09067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09067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3090672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767328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376732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49040" y="37673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4443984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444398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444398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75320" y="21945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4305E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dim_neighbourhood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017520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24305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0175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dim_room_type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75320" y="30175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5A5F"/>
          </a:solidFill>
          <a:ln/>
        </p:spPr>
      </p:sp>
      <p:sp>
        <p:nvSpPr>
          <p:cNvPr id="41" name="Text 39"/>
          <p:cNvSpPr/>
          <p:nvPr/>
        </p:nvSpPr>
        <p:spPr>
          <a:xfrm>
            <a:off x="8275320" y="3017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fact_listings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287000" y="301752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24305E"/>
          </a:solidFill>
          <a:ln/>
        </p:spPr>
      </p:sp>
      <p:sp>
        <p:nvSpPr>
          <p:cNvPr id="43" name="Text 41"/>
          <p:cNvSpPr/>
          <p:nvPr/>
        </p:nvSpPr>
        <p:spPr>
          <a:xfrm>
            <a:off x="1028700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dim_host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275320" y="38404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5A5F"/>
          </a:solidFill>
          <a:ln/>
        </p:spPr>
      </p:sp>
      <p:sp>
        <p:nvSpPr>
          <p:cNvPr id="45" name="Text 43"/>
          <p:cNvSpPr/>
          <p:nvPr/>
        </p:nvSpPr>
        <p:spPr>
          <a:xfrm>
            <a:off x="827532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fact_reviews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66760" y="466344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24305E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4663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052560" y="2606040"/>
            <a:ext cx="0" cy="411480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3246120"/>
            <a:ext cx="320040" cy="0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0" y="3246120"/>
            <a:ext cx="457200" cy="0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52560" y="3474720"/>
            <a:ext cx="0" cy="365760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4297680"/>
            <a:ext cx="0" cy="365760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5029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fact_listings: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Listing-level analytical data
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fact_reviews: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&amp; sentiment data
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dim_host / dim_neighbourhood / dim_room_type / dim_date: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dimensions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5989320"/>
            <a:ext cx="11109960" cy="548640"/>
          </a:xfrm>
          <a:prstGeom prst="roundRect">
            <a:avLst>
              <a:gd name="adj" fmla="val 10000"/>
            </a:avLst>
          </a:prstGeom>
          <a:solidFill>
            <a:srgbClr val="1B2559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5989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modeling was used to improve filtering, measure reuse and analytical scalability.  |  Power Query → Transformation   DAX → Measures   Power BI → Visualization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connected pages — real screenshots from the working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2461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5" name="Image 0" descr="/home/claude/pptx_project4/imgs/marke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154680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363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Market Overview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13632" y="1463040"/>
            <a:ext cx="32461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8" name="Image 1" descr="/home/claude/pptx_project4/imgs/pricing_mar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508760"/>
            <a:ext cx="3154680" cy="160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3632" y="31363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Pricing &amp; Market Analysis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" y="3703320"/>
            <a:ext cx="32461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1" name="Image 2" descr="/home/claude/pptx_project4/imgs/customer_h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3154680" cy="1600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" y="53766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Customer &amp; Host Insights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913632" y="3703320"/>
            <a:ext cx="324612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4" name="Image 3" descr="/home/claude/pptx_project4/imgs/listing_detai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3749040"/>
            <a:ext cx="3154680" cy="1600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13632" y="53766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Listing Details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7406640" y="1463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DASHBOARD FEATURES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406640" y="1783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slicers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406640" y="20939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Cross-filtering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406640" y="24048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 navigation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406640" y="2715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Report-page tooltips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7406640" y="30266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Drill-through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406640" y="3337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DAX measures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406640" y="36484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model relationships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406640" y="39593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Geographic analysis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406640" y="4407408"/>
            <a:ext cx="42519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6" name="Text 20"/>
          <p:cNvSpPr/>
          <p:nvPr/>
        </p:nvSpPr>
        <p:spPr>
          <a:xfrm>
            <a:off x="7635240" y="454456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“Designed as an interactive decision-support dashboard rather than a static reporting page.”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&amp; Pricing Insights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dashboard page — KPIs and headline pricing patterns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49224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5" name="Image 0" descr="/home/claude/pptx_project4/imgs/marke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630936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223760" y="1719072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0920" y="171907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0" y="171907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223760" y="2194560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21945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01200" y="21945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£97.22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23760" y="2670048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0920" y="26700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601200" y="267004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23760" y="3145536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60920" y="31455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01200" y="314553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223760" y="3621024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60920" y="36210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601200" y="362102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23760" y="4187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PRICING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223760" y="44805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01200" y="44805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£124.68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23760" y="47045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room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601200" y="4704588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£115.00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23760" y="4928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601200" y="49286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£68.92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223760" y="51526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room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601200" y="5152644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£20.00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" y="5532120"/>
            <a:ext cx="11109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5532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London shows the highest visible average nightly price (~£135). Pricing varies significantly by neighbourhood and room type, so hosts should use segment-level benchmarks rather than relying only on the citywide average.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Drivers &amp; Host Performance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Market Analysis dashboard page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85800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5" name="Image 0" descr="/home/claude/pptx_project4/imgs/pricing_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667512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 PERFORMANCE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1737360"/>
            <a:ext cx="40233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89520" y="1737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0" y="17373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Non-Super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378440" y="17373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0" y="2048256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20482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0" y="20482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£99.01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378440" y="20482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£89.78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89520" y="2487168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2487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0" y="24871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378440" y="24871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589520" y="2926080"/>
            <a:ext cx="40233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2926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44000" y="29260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378440" y="29260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589520" y="3502152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 listings show substantially higher review volume and slightly higher ratings, while their average nightly price is lower in this dataset.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2920" y="5349240"/>
            <a:ext cx="1110996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394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Neighbourhood, room type and property characteristics are associated with meaningful differences in listing prices.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host-performance analysis should be evaluated together rather than using price as the only indicator of listing performance.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&amp; Host Market Insights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Host Insights dashboard page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58368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5" name="Image 0" descr="/home/claude/pptx_project4/imgs/customer_h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640080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KPIS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0" y="1719072"/>
            <a:ext cx="43434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52360" y="1719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92640" y="1719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0" y="2130552"/>
            <a:ext cx="43434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2130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Sentiment Score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92640" y="21305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0" y="2542032"/>
            <a:ext cx="43434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2542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92640" y="25420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0" y="2953512"/>
            <a:ext cx="43434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29535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92640" y="29535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15200" y="3364992"/>
            <a:ext cx="43434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33649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92640" y="33649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15200" y="38496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PORTFOLIO SIZE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0" y="41239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listing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692640" y="412394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0" y="433882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listings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692640" y="43388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315200" y="45537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6–20 listings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692640" y="4553712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315200" y="476859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listings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692640" y="4768596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2920" y="5349240"/>
            <a:ext cx="1110996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5394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analyzed review dataset is strongly positive, with 91.2% of reviews classified as positive.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provides a strong view of guest experience, while host concentration reveals the structure of marketplace participation.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Business Recommendations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→ Implication → Recommendation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545336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5453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London has the highest visible average nightly price.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contributes to meaningful pricing differences.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417880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neighbourhood-specific pricing benchmarks.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761488" y="1417320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1545336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F5A5F"/>
          </a:solidFill>
          <a:ln/>
        </p:spPr>
      </p:sp>
      <p:sp>
        <p:nvSpPr>
          <p:cNvPr id="15" name="Text 13"/>
          <p:cNvSpPr/>
          <p:nvPr/>
        </p:nvSpPr>
        <p:spPr>
          <a:xfrm>
            <a:off x="2871216" y="15453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98648" y="203911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898648" y="22402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listings command substantially higher average prices than private and shared rooms.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2898648" y="31089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98648" y="33101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room types operate in different pricing segments.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2898648" y="39776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898648" y="417880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listings against similar room types.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020056" y="1417320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9784" y="1545336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F5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129784" y="15453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 Engagement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57216" y="203911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57216" y="22402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 listings average ~117 reviews vs. 43 for non-Superhosts.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157216" y="31089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57216" y="33101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 listings show stronger customer engagement in this dataset.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157216" y="39776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57216" y="417880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guest experience, responsiveness and service quality.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7278624" y="1417320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88352" y="1545336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F5A5F"/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15453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15784" y="203911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415784" y="22402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 of reviews are classified as positive.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7415784" y="31089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15784" y="33101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customer sentiment is strongly positive.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7415784" y="39776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415784" y="417880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recurring positive themes and maintain the service factors driving satisfaction.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9537192" y="1417320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1B2559"/>
          </a:solidFill>
          <a:ln w="9525">
            <a:solidFill>
              <a:srgbClr val="3340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46920" y="1545336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F5A5F"/>
          </a:solidFill>
          <a:ln/>
        </p:spPr>
      </p:sp>
      <p:sp>
        <p:nvSpPr>
          <p:cNvPr id="42" name="Text 40"/>
          <p:cNvSpPr/>
          <p:nvPr/>
        </p:nvSpPr>
        <p:spPr>
          <a:xfrm>
            <a:off x="9646920" y="15453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74352" y="203911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674352" y="22402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vary across neighbourhoods, room types and listing characteristics.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9674352" y="310896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674352" y="331012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pricing benchmark can hide local opportunities.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9674352" y="39776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674352" y="417880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segmented pricing benchmarks based on neighbourhood, room type and property characteristics.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502920" y="4892040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F5A5F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50292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BUSINESS RECOMMENDATION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" y="532180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segmented, data-driven pricing strategy that combines location, room type, property characteristics, customer engagement and host performance.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From Raw Data to Business Decisions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24305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801368" y="141732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11096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24305E"/>
          </a:solidFill>
          <a:ln/>
        </p:spPr>
      </p:sp>
      <p:sp>
        <p:nvSpPr>
          <p:cNvPr id="8" name="Text 6"/>
          <p:cNvSpPr/>
          <p:nvPr/>
        </p:nvSpPr>
        <p:spPr>
          <a:xfrm>
            <a:off x="1911096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9544" y="141732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24305E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24305E"/>
          </a:solidFill>
          <a:ln/>
        </p:spPr>
      </p:sp>
      <p:sp>
        <p:nvSpPr>
          <p:cNvPr id="14" name="Text 12"/>
          <p:cNvSpPr/>
          <p:nvPr/>
        </p:nvSpPr>
        <p:spPr>
          <a:xfrm>
            <a:off x="4727448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25896" y="141732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5624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24305E"/>
          </a:solidFill>
          <a:ln/>
        </p:spPr>
      </p:sp>
      <p:sp>
        <p:nvSpPr>
          <p:cNvPr id="17" name="Text 15"/>
          <p:cNvSpPr/>
          <p:nvPr/>
        </p:nvSpPr>
        <p:spPr>
          <a:xfrm>
            <a:off x="6135624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34072" y="141732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24305E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42248" y="141732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51976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24305E"/>
          </a:solidFill>
          <a:ln/>
        </p:spPr>
      </p:sp>
      <p:sp>
        <p:nvSpPr>
          <p:cNvPr id="23" name="Text 21"/>
          <p:cNvSpPr/>
          <p:nvPr/>
        </p:nvSpPr>
        <p:spPr>
          <a:xfrm>
            <a:off x="8951976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250424" y="1417320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60152" y="1417320"/>
            <a:ext cx="1298448" cy="502920"/>
          </a:xfrm>
          <a:prstGeom prst="roundRect">
            <a:avLst>
              <a:gd name="adj" fmla="val 9091"/>
            </a:avLst>
          </a:prstGeom>
          <a:solidFill>
            <a:srgbClr val="FF5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60152" y="14173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2240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Problem Framing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Cleaning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Wrangling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3252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Exploratory Data Analysis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/ Pandas / NumPy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4612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Sentiment Analysis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8932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 Query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73252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 Schema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Modeling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461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DAX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893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 Development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325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 BI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Dashboards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4612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Slicers &amp; Cross Filtering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8932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 Navigation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73252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 Tooltips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Drill-through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4612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Validation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8932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Insights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3252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Data-Driven Recommendations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489204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1B2559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48920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project demonstrates the ability to transform raw business data into a structured analytical model, communicate insights through interactive dashboards, and translate findings into actionable business recommendations.”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02920" y="598932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MINDSET:  </a:t>
            </a:r>
            <a:pPr indent="0" marL="0">
              <a:buNone/>
            </a:pPr>
            <a:r>
              <a:rPr lang="en-US" sz="1150" i="1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just report what happened — explain why it matters and what decision should follow.”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2026-08-11T02:52:04Z</dcterms:created>
  <dcterms:modified xsi:type="dcterms:W3CDTF">2026-08-11T02:52:04Z</dcterms:modified>
</cp:coreProperties>
</file>