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IYANKA R" userId="f771d0e54c883c16" providerId="LiveId" clId="{57EC4A04-2A36-4D20-A548-EFEBC8FF0D0C}"/>
    <pc:docChg chg="modSld">
      <pc:chgData name="PRIYANKA R" userId="f771d0e54c883c16" providerId="LiveId" clId="{57EC4A04-2A36-4D20-A548-EFEBC8FF0D0C}" dt="2026-07-29T13:08:51.119" v="3" actId="1038"/>
      <pc:docMkLst>
        <pc:docMk/>
      </pc:docMkLst>
      <pc:sldChg chg="modSp mod">
        <pc:chgData name="PRIYANKA R" userId="f771d0e54c883c16" providerId="LiveId" clId="{57EC4A04-2A36-4D20-A548-EFEBC8FF0D0C}" dt="2026-07-29T13:08:51.119" v="3" actId="1038"/>
        <pc:sldMkLst>
          <pc:docMk/>
          <pc:sldMk cId="0" sldId="256"/>
        </pc:sldMkLst>
        <pc:spChg chg="mod">
          <ac:chgData name="PRIYANKA R" userId="f771d0e54c883c16" providerId="LiveId" clId="{57EC4A04-2A36-4D20-A548-EFEBC8FF0D0C}" dt="2026-07-29T13:08:48.445" v="2" actId="1036"/>
          <ac:spMkLst>
            <pc:docMk/>
            <pc:sldMk cId="0" sldId="256"/>
            <ac:spMk id="2" creationId="{00000000-0000-0000-0000-000000000000}"/>
          </ac:spMkLst>
        </pc:spChg>
        <pc:spChg chg="mod">
          <ac:chgData name="PRIYANKA R" userId="f771d0e54c883c16" providerId="LiveId" clId="{57EC4A04-2A36-4D20-A548-EFEBC8FF0D0C}" dt="2026-07-29T13:08:51.119" v="3" actId="1038"/>
          <ac:spMkLst>
            <pc:docMk/>
            <pc:sldMk cId="0" sldId="256"/>
            <ac:spMk id="4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Sentiment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0B0-40E5-8C4C-F30D78DE8B6C}"/>
              </c:ext>
            </c:extLst>
          </c:dPt>
          <c:dPt>
            <c:idx val="1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0B0-40E5-8C4C-F30D78DE8B6C}"/>
              </c:ext>
            </c:extLst>
          </c:dPt>
          <c:dPt>
            <c:idx val="2"/>
            <c:bubble3D val="0"/>
            <c:spPr>
              <a:solidFill>
                <a:srgbClr val="FF5A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0B0-40E5-8C4C-F30D78DE8B6C}"/>
              </c:ext>
            </c:extLst>
          </c:dPt>
          <c:dLbls>
            <c:dLbl>
              <c:idx val="0"/>
              <c:numFmt formatCode="0.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0B0-40E5-8C4C-F30D78DE8B6C}"/>
                </c:ext>
              </c:extLst>
            </c:dLbl>
            <c:dLbl>
              <c:idx val="1"/>
              <c:numFmt formatCode="0.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0B0-40E5-8C4C-F30D78DE8B6C}"/>
                </c:ext>
              </c:extLst>
            </c:dLbl>
            <c:dLbl>
              <c:idx val="2"/>
              <c:numFmt formatCode="0.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0B0-40E5-8C4C-F30D78DE8B6C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Positive</c:v>
                </c:pt>
                <c:pt idx="1">
                  <c:v>Neutral</c:v>
                </c:pt>
                <c:pt idx="2">
                  <c:v>Negative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86.1</c:v>
                </c:pt>
                <c:pt idx="1">
                  <c:v>9.6</c:v>
                </c:pt>
                <c:pt idx="2">
                  <c:v>4.2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0B0-40E5-8C4C-F30D78DE8B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1E2761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9076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C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320" y="10160"/>
            <a:ext cx="12188952" cy="6858000"/>
          </a:xfrm>
          <a:prstGeom prst="rect">
            <a:avLst/>
          </a:prstGeom>
          <a:solidFill>
            <a:srgbClr val="141C4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251440" y="3840480"/>
            <a:ext cx="3657600" cy="3657600"/>
          </a:xfrm>
          <a:prstGeom prst="ellipse">
            <a:avLst/>
          </a:prstGeom>
          <a:solidFill>
            <a:srgbClr val="FF5A5F">
              <a:alpha val="2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904240"/>
            <a:ext cx="5486400" cy="74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PROJECT</a:t>
            </a:r>
            <a:endParaRPr lang="en-US" sz="1200" b="1" dirty="0"/>
          </a:p>
        </p:txBody>
      </p:sp>
      <p:sp>
        <p:nvSpPr>
          <p:cNvPr id="6" name="Text 4"/>
          <p:cNvSpPr/>
          <p:nvPr/>
        </p:nvSpPr>
        <p:spPr>
          <a:xfrm>
            <a:off x="777240" y="1412240"/>
            <a:ext cx="9144000" cy="1137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Airbnb London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822960" y="2245360"/>
            <a:ext cx="9144000" cy="812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Analysis, Price Prediction &amp; Sentiment Analysis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550160"/>
            <a:ext cx="9144000" cy="94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•  Machine Learning  •  NLP  •  Power BI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498348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600" b="1" dirty="0">
                <a:solidFill>
                  <a:schemeClr val="bg1"/>
                </a:solidFill>
              </a:rPr>
              <a:t>Presented by:</a:t>
            </a:r>
          </a:p>
          <a:p>
            <a:r>
              <a:rPr lang="en-IN" sz="1600" b="1" dirty="0" err="1">
                <a:solidFill>
                  <a:schemeClr val="bg1"/>
                </a:solidFill>
              </a:rPr>
              <a:t>Priyanka.R</a:t>
            </a:r>
            <a:endParaRPr lang="en-IN" sz="1600" b="1" dirty="0">
              <a:solidFill>
                <a:schemeClr val="bg1"/>
              </a:solidFill>
            </a:endParaRPr>
          </a:p>
          <a:p>
            <a:r>
              <a:rPr lang="en-IN" sz="1600" b="1" dirty="0" err="1">
                <a:solidFill>
                  <a:schemeClr val="bg1"/>
                </a:solidFill>
              </a:rPr>
              <a:t>B.Tech</a:t>
            </a:r>
            <a:r>
              <a:rPr lang="en-IN" sz="1600" b="1" dirty="0">
                <a:solidFill>
                  <a:schemeClr val="bg1"/>
                </a:solidFill>
              </a:rPr>
              <a:t> Information Technology </a:t>
            </a:r>
          </a:p>
          <a:p>
            <a:r>
              <a:rPr lang="en-IN" sz="1600" b="1" dirty="0">
                <a:solidFill>
                  <a:schemeClr val="bg1"/>
                </a:solidFill>
              </a:rPr>
              <a:t>SRM Valliammai Engineering College</a:t>
            </a:r>
          </a:p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set out to answer?</a:t>
            </a:r>
            <a:endParaRPr lang="en-US" sz="1400" b="1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105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hosts, guests, and platform analysts have limited visibility into what actually drives nightly pricing, guest satisfaction, and listing availability across a fragmented market like London — making it hard to price competitively or spot underperforming segments.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2486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657600"/>
            <a:ext cx="2624328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38404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5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9808" y="4343400"/>
            <a:ext cx="2221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pricing patterns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49808" y="4983480"/>
            <a:ext cx="22219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boroughs, room types, and bedroom counts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401568" y="3657600"/>
            <a:ext cx="2624328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02736" y="38404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5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602736" y="4343400"/>
            <a:ext cx="2221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nightly price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02736" y="4983480"/>
            <a:ext cx="22219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listing attributes with ML regression models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54496" y="3657600"/>
            <a:ext cx="2624328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55664" y="38404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5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55664" y="4343400"/>
            <a:ext cx="2221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guest sentiment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55664" y="4983480"/>
            <a:ext cx="22219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review text at scale using NLP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107424" y="3657600"/>
            <a:ext cx="2624328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08592" y="38404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5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308592" y="4343400"/>
            <a:ext cx="2221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an interactive dashboard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308592" y="4983480"/>
            <a:ext cx="22219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stakeholders to explore findings live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Tools Used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went into the analysis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394960" cy="868680"/>
          </a:xfrm>
          <a:prstGeom prst="roundRect">
            <a:avLst>
              <a:gd name="adj" fmla="val 8421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2996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30428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Airbnb — London listings snapshot (2019)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944368"/>
            <a:ext cx="5394960" cy="868680"/>
          </a:xfrm>
          <a:prstGeom prst="roundRect">
            <a:avLst>
              <a:gd name="adj" fmla="val 8421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054096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3328416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9,230 cleaned records across 32 boroughs, 45+ features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968496"/>
            <a:ext cx="5394960" cy="868680"/>
          </a:xfrm>
          <a:prstGeom prst="roundRect">
            <a:avLst>
              <a:gd name="adj" fmla="val 8421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078224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corpus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4352544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1.7M+ guest review comments for sentiment analysis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992624"/>
            <a:ext cx="5394960" cy="868680"/>
          </a:xfrm>
          <a:prstGeom prst="roundRect">
            <a:avLst>
              <a:gd name="adj" fmla="val 8421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510235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Geodata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537667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Latitude/longitude for every listing (used in map + spatial EDA)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263640" y="1600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LIBRARIES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63640" y="1920240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2002536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503920" y="2002536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numpy — data cleaning &amp; numerical operations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63640" y="2743200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2825496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503920" y="2825496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matplotlib, seaborn, folium — EDA &amp; geospatial plots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63640" y="3566160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6492240" y="3648456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503920" y="3648456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— Linear Regression, Random Forest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63640" y="4389120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6492240" y="4471416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503920" y="4471416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 (VADER) — sentiment scoring on review text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63640" y="5212080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6492240" y="5294376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503920" y="5294376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 — interactive dashboard with slicers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C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60" y="0"/>
            <a:ext cx="12188952" cy="6858000"/>
          </a:xfrm>
          <a:prstGeom prst="rect">
            <a:avLst/>
          </a:prstGeom>
          <a:solidFill>
            <a:srgbClr val="141C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Methodology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process, from raw data to dashboard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1600200" cy="1600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51460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306324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48840" y="3159252"/>
            <a:ext cx="298094" cy="36576"/>
          </a:xfrm>
          <a:prstGeom prst="rect">
            <a:avLst/>
          </a:prstGeom>
          <a:solidFill>
            <a:srgbClr val="8892B0"/>
          </a:solidFill>
          <a:ln/>
        </p:spPr>
      </p:sp>
      <p:sp>
        <p:nvSpPr>
          <p:cNvPr id="9" name="Shape 7"/>
          <p:cNvSpPr/>
          <p:nvPr/>
        </p:nvSpPr>
        <p:spPr>
          <a:xfrm>
            <a:off x="2446934" y="2377440"/>
            <a:ext cx="1600200" cy="160020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0" name="Text 8"/>
          <p:cNvSpPr/>
          <p:nvPr/>
        </p:nvSpPr>
        <p:spPr>
          <a:xfrm>
            <a:off x="2446934" y="251460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46934" y="306324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047134" y="3159252"/>
            <a:ext cx="298094" cy="36576"/>
          </a:xfrm>
          <a:prstGeom prst="rect">
            <a:avLst/>
          </a:prstGeom>
          <a:solidFill>
            <a:srgbClr val="8892B0"/>
          </a:solidFill>
          <a:ln/>
        </p:spPr>
      </p:sp>
      <p:sp>
        <p:nvSpPr>
          <p:cNvPr id="13" name="Shape 11"/>
          <p:cNvSpPr/>
          <p:nvPr/>
        </p:nvSpPr>
        <p:spPr>
          <a:xfrm>
            <a:off x="4345229" y="2377440"/>
            <a:ext cx="1600200" cy="1600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4345229" y="251460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345229" y="306324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</a:t>
            </a:r>
            <a:endParaRPr lang="en-US" sz="12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5429" y="3159252"/>
            <a:ext cx="298094" cy="36576"/>
          </a:xfrm>
          <a:prstGeom prst="rect">
            <a:avLst/>
          </a:prstGeom>
          <a:solidFill>
            <a:srgbClr val="8892B0"/>
          </a:solidFill>
          <a:ln/>
        </p:spPr>
      </p:sp>
      <p:sp>
        <p:nvSpPr>
          <p:cNvPr id="17" name="Shape 15"/>
          <p:cNvSpPr/>
          <p:nvPr/>
        </p:nvSpPr>
        <p:spPr>
          <a:xfrm>
            <a:off x="6243523" y="2377440"/>
            <a:ext cx="1600200" cy="160020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8" name="Text 16"/>
          <p:cNvSpPr/>
          <p:nvPr/>
        </p:nvSpPr>
        <p:spPr>
          <a:xfrm>
            <a:off x="6243523" y="251460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243523" y="306324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</a:t>
            </a:r>
            <a:endParaRPr lang="en-US" sz="12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843723" y="3159252"/>
            <a:ext cx="298094" cy="36576"/>
          </a:xfrm>
          <a:prstGeom prst="rect">
            <a:avLst/>
          </a:prstGeom>
          <a:solidFill>
            <a:srgbClr val="8892B0"/>
          </a:solidFill>
          <a:ln/>
        </p:spPr>
      </p:sp>
      <p:sp>
        <p:nvSpPr>
          <p:cNvPr id="21" name="Shape 19"/>
          <p:cNvSpPr/>
          <p:nvPr/>
        </p:nvSpPr>
        <p:spPr>
          <a:xfrm>
            <a:off x="8141818" y="2377440"/>
            <a:ext cx="1600200" cy="1600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8141818" y="251460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141818" y="306324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</a:t>
            </a:r>
            <a:endParaRPr lang="en-US" sz="12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742018" y="3159252"/>
            <a:ext cx="298094" cy="36576"/>
          </a:xfrm>
          <a:prstGeom prst="rect">
            <a:avLst/>
          </a:prstGeom>
          <a:solidFill>
            <a:srgbClr val="8892B0"/>
          </a:solidFill>
          <a:ln/>
        </p:spPr>
      </p:sp>
      <p:sp>
        <p:nvSpPr>
          <p:cNvPr id="25" name="Shape 23"/>
          <p:cNvSpPr/>
          <p:nvPr/>
        </p:nvSpPr>
        <p:spPr>
          <a:xfrm>
            <a:off x="10040112" y="2377440"/>
            <a:ext cx="1600200" cy="160020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26" name="Text 24"/>
          <p:cNvSpPr/>
          <p:nvPr/>
        </p:nvSpPr>
        <p:spPr>
          <a:xfrm>
            <a:off x="10040112" y="251460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0040112" y="306324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" y="46634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listings and review data were pulled from Inside Airbnb, cleaned and de-duplicated in pandas, explored visually to surface pricing patterns, then used to train two regression models and run NLP sentiment scoring — with every finding surfaced in a single interactive Power BI dashboard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80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 &amp; EDA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steps and what the exploratory analysis revealed</a:t>
            </a:r>
            <a:endParaRPr lang="en-US" sz="1400" b="1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394960" cy="4206240"/>
          </a:xfrm>
          <a:prstGeom prst="roundRect">
            <a:avLst>
              <a:gd name="adj" fmla="val 2174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249424"/>
            <a:ext cx="109728" cy="109728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10312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columns with &gt;50% missing values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3026664"/>
            <a:ext cx="109728" cy="109728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88036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Imputed numeric fields with median, categorical with “Unknown”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803904"/>
            <a:ext cx="109728" cy="109728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65760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price strings (“$120.00”) to clean numeric values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4581144"/>
            <a:ext cx="109728" cy="109728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443484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price outliers using the IQR method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5358384"/>
            <a:ext cx="109728" cy="109728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521208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review dates to datetime; removed duplicate rows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263640" y="1600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HIGHLIGHTS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63640" y="1920240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20116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Neighbourhood pricing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92240" y="230428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boroughs (City of London, Kensington) command the highest average nightly rates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63640" y="2999232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309067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type mix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92240" y="338328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homes and private rooms make up nearly the entire market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63640" y="4078224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4169664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vs. reviews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92240" y="4462272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relationship — expensive listings aren’t reviewed more often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63640" y="5157216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5248656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92240" y="5541264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listings cluster at low or very-high availability, few sit in the middle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&amp; Sentiment Analysis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prediction models and NLP-based review sentiment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PREDICTION — MODEL COMPARISON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4864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2024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834640" y="1920240"/>
            <a:ext cx="960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(£)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931920" y="1920240"/>
            <a:ext cx="960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(£)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0" y="1920240"/>
            <a:ext cx="960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423160"/>
            <a:ext cx="5486400" cy="50292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42316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34640" y="2423160"/>
            <a:ext cx="960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44.44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31920" y="2423160"/>
            <a:ext cx="960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55.75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0" y="2423160"/>
            <a:ext cx="960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926080"/>
            <a:ext cx="5486400" cy="5029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92608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834640" y="2926080"/>
            <a:ext cx="960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40.74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931920" y="2926080"/>
            <a:ext cx="960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53.05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2926080"/>
            <a:ext cx="960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35661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Random Forest outperforms Linear Regression, but both R² scores are modest — price is influenced by factors beyond these 5 features (esp. location).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2062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predictive features: reviews/month (25.4%) and availability_365 (25.1%)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263640" y="1600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 (NLTK VADER)</a:t>
            </a:r>
            <a:endParaRPr lang="en-US" sz="1100" dirty="0"/>
          </a:p>
        </p:txBody>
      </p:sp>
      <p:graphicFrame>
        <p:nvGraphicFramePr>
          <p:cNvPr id="23" name="Chart 0"/>
          <p:cNvGraphicFramePr/>
          <p:nvPr/>
        </p:nvGraphicFramePr>
        <p:xfrm>
          <a:off x="6263640" y="1920240"/>
          <a:ext cx="539496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4" name="Text 21"/>
          <p:cNvSpPr/>
          <p:nvPr/>
        </p:nvSpPr>
        <p:spPr>
          <a:xfrm>
            <a:off x="6263640" y="562356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86.1% of 1.7M+ analyzed reviews are Positive — guest satisfaction is overwhelmingly high across the platform.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79120" y="105156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with live cross-filtering, slicers, and map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7955280" cy="457200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  <a:effectLst>
            <a:outerShdw blurRad="127000" dist="38100" dir="5400000" algn="bl" rotWithShape="0">
              <a:srgbClr val="1E2761">
                <a:alpha val="15000"/>
              </a:srgbClr>
            </a:outerShdw>
          </a:effectLst>
        </p:spPr>
      </p:sp>
      <p:pic>
        <p:nvPicPr>
          <p:cNvPr id="5" name="Image 0" descr="/home/claude/pptx_project2/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91640"/>
            <a:ext cx="7772400" cy="4389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732520" y="16184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FEATURES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8732520" y="2112264"/>
            <a:ext cx="91440" cy="9144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8" name="Text 5"/>
          <p:cNvSpPr/>
          <p:nvPr/>
        </p:nvSpPr>
        <p:spPr>
          <a:xfrm>
            <a:off x="8942832" y="192024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KPI cards — listings, price, superhost %, review score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732520" y="2953512"/>
            <a:ext cx="91440" cy="9144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0" name="Text 7"/>
          <p:cNvSpPr/>
          <p:nvPr/>
        </p:nvSpPr>
        <p:spPr>
          <a:xfrm>
            <a:off x="8942832" y="2807208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type, borough, superhost &amp; price-range slicers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732520" y="3794760"/>
            <a:ext cx="91440" cy="9144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2" name="Text 9"/>
          <p:cNvSpPr/>
          <p:nvPr/>
        </p:nvSpPr>
        <p:spPr>
          <a:xfrm>
            <a:off x="8942832" y="3648456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Cross-filtering across every visual on the page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732520" y="4636008"/>
            <a:ext cx="91440" cy="9144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4" name="Text 11"/>
          <p:cNvSpPr/>
          <p:nvPr/>
        </p:nvSpPr>
        <p:spPr>
          <a:xfrm>
            <a:off x="8942832" y="4489704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price by borough, room type split, price by bedrooms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732520" y="5477256"/>
            <a:ext cx="91440" cy="9144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6" name="Text 13"/>
          <p:cNvSpPr/>
          <p:nvPr/>
        </p:nvSpPr>
        <p:spPr>
          <a:xfrm>
            <a:off x="8942832" y="5330952"/>
            <a:ext cx="274320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geospatial map of all 9,230 listings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C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C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actually tells us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7373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5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49808" y="2240280"/>
            <a:ext cx="31638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is the #1 price driver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" y="2788920"/>
            <a:ext cx="316382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of London (£155/night) prices nearly 4x higher than Bexley (£41/night).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3400" y="160020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544568" y="17373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5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44568" y="2240280"/>
            <a:ext cx="31638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Guests are overwhelmingly satisfied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44568" y="2788920"/>
            <a:ext cx="316382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86.1% of 1.7M+ reviews score Positive on sentiment — only 4.2% Negative.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38160" y="160020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8339328" y="17373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5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339328" y="2240280"/>
            <a:ext cx="31638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barely predicts satisfaction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39328" y="2788920"/>
            <a:ext cx="316382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vs. review score correlation is effectively zero (−0.001).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97764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41148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5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49808" y="4617720"/>
            <a:ext cx="31638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price prediction has room to grow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9808" y="5166360"/>
            <a:ext cx="316382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Forest’s R² of 0.153 shows non-location features alone explain little of price — confirming location matters most.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43400" y="397764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4544568" y="41148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5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544568" y="4617720"/>
            <a:ext cx="31638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Superhosts outperform on service, not price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44568" y="5166360"/>
            <a:ext cx="316382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96.4 avg review score vs. 93.1 for others — while charging £9 less per night.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138160" y="397764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8339328" y="41148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5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339328" y="4617720"/>
            <a:ext cx="31638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is nearly split in two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339328" y="5166360"/>
            <a:ext cx="316382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rooms (51%) and entire homes (48%) make up almost all listings.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learned, and where this project could go next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105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London’s Airbnb market is overwhelmingly shaped by location and property type rather than review quality, and guest sentiment is highly positive platform-wide. The current price-prediction models confirm this: without location as a direct feature, they explain only a modest share of price variance — a clear signal that geography is the dominant factor.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3429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794760"/>
            <a:ext cx="2624328" cy="2148840"/>
          </a:xfrm>
          <a:prstGeom prst="roundRect">
            <a:avLst>
              <a:gd name="adj" fmla="val 4255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023360"/>
            <a:ext cx="22585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location features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31520" y="4663440"/>
            <a:ext cx="225856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borough/coordinates directly to boost model R²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01568" y="3794760"/>
            <a:ext cx="2624328" cy="2148840"/>
          </a:xfrm>
          <a:prstGeom prst="roundRect">
            <a:avLst>
              <a:gd name="adj" fmla="val 4255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84448" y="4023360"/>
            <a:ext cx="22585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advanced models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584448" y="4663440"/>
            <a:ext cx="225856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/ gradient boosting with hyperparameter tuning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54496" y="3794760"/>
            <a:ext cx="2624328" cy="2148840"/>
          </a:xfrm>
          <a:prstGeom prst="roundRect">
            <a:avLst>
              <a:gd name="adj" fmla="val 4255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4023360"/>
            <a:ext cx="22585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trend analysis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37376" y="4663440"/>
            <a:ext cx="225856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pricing patterns across the calendar year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107424" y="3794760"/>
            <a:ext cx="2624328" cy="2148840"/>
          </a:xfrm>
          <a:prstGeom prst="roundRect">
            <a:avLst>
              <a:gd name="adj" fmla="val 4255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90304" y="4023360"/>
            <a:ext cx="22585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modeling on negatives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290304" y="4663440"/>
            <a:ext cx="225856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common complaint themes from Negative reviews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C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77440"/>
            <a:ext cx="10927606" cy="1837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68680" y="33832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6126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F635071B-FAFA-CCF4-0C1C-C81F192713FF}"/>
              </a:ext>
            </a:extLst>
          </p:cNvPr>
          <p:cNvSpPr/>
          <p:nvPr/>
        </p:nvSpPr>
        <p:spPr>
          <a:xfrm>
            <a:off x="9921766" y="-923684"/>
            <a:ext cx="3657600" cy="3657600"/>
          </a:xfrm>
          <a:prstGeom prst="ellipse">
            <a:avLst/>
          </a:prstGeom>
          <a:solidFill>
            <a:srgbClr val="FF5A5F">
              <a:alpha val="22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902</Words>
  <Application>Microsoft Office PowerPoint</Application>
  <PresentationFormat>Widescreen</PresentationFormat>
  <Paragraphs>162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PRIYANKA R</cp:lastModifiedBy>
  <cp:revision>4</cp:revision>
  <dcterms:created xsi:type="dcterms:W3CDTF">2026-07-27T06:17:25Z</dcterms:created>
  <dcterms:modified xsi:type="dcterms:W3CDTF">2026-07-29T13:08:56Z</dcterms:modified>
</cp:coreProperties>
</file>